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88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9144000"/>
          </a:xfrm>
          <a:prstGeom prst="rect">
            <a:avLst/>
          </a:prstGeom>
          <a:solidFill>
            <a:srgbClr val="161C24"/>
          </a:solidFill>
          <a:ln w="10160">
            <a:solidFill>
              <a:srgbClr val="161C2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36600" y="1117600"/>
            <a:ext cx="9906000" cy="542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32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论文主动悬架凸包工况复现汇报</a:t>
            </a:r>
            <a:endParaRPr lang="zh-CN" altLang="en-US" sz="32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000" y="1955800"/>
            <a:ext cx="9906000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500">
                <a:solidFill>
                  <a:srgbClr val="D7DDE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Road-3 speed bump | CarSim-Simulink-MATLAB | </a:t>
            </a:r>
            <a:r>
              <a:rPr lang="zh-CN" altLang="en-US" sz="1500">
                <a:solidFill>
                  <a:srgbClr val="D7DDE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复现过程、结果与反思</a:t>
            </a:r>
            <a:endParaRPr lang="zh-CN" altLang="en-US" sz="1500">
              <a:solidFill>
                <a:srgbClr val="D7DDE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62000" y="3124200"/>
            <a:ext cx="2603500" cy="1092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39800" y="3251200"/>
            <a:ext cx="22733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2400" b="1">
                <a:solidFill>
                  <a:srgbClr val="1E8EA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4</a:t>
            </a:r>
            <a:r>
              <a:rPr lang="zh-CN" altLang="en-US" sz="2400" b="1">
                <a:solidFill>
                  <a:srgbClr val="1E8EA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类路面</a:t>
            </a:r>
            <a:endParaRPr lang="zh-CN" altLang="en-US" sz="2400" b="1">
              <a:solidFill>
                <a:srgbClr val="1E8EA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9800" y="3657600"/>
            <a:ext cx="22733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Road-3 half-sine CSV</a:t>
            </a:r>
            <a:endParaRPr lang="en-US" altLang="en-US" sz="11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9800" y="3898900"/>
            <a:ext cx="22733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10/50/150 mm; 0.4/2.5 m</a:t>
            </a:r>
            <a:endParaRPr lang="en-US" altLang="en-US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619500" y="3124200"/>
            <a:ext cx="3302000" cy="1092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797300" y="3251200"/>
            <a:ext cx="29718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2400" b="1">
                <a:solidFill>
                  <a:srgbClr val="29825B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三阶段调试</a:t>
            </a:r>
            <a:endParaRPr lang="zh-CN" altLang="en-US" sz="2400" b="1">
              <a:solidFill>
                <a:srgbClr val="29825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97300" y="3657600"/>
            <a:ext cx="29718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轴向隔离</a:t>
            </a:r>
            <a:r>
              <a:rPr lang="en-US" altLang="zh-CN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+ Q</a:t>
            </a:r>
            <a:r>
              <a:rPr lang="zh-CN" altLang="en-US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重训</a:t>
            </a:r>
            <a:r>
              <a:rPr lang="en-US" altLang="zh-CN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+ </a:t>
            </a:r>
            <a:r>
              <a:rPr lang="zh-CN" altLang="en-US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能量门控</a:t>
            </a:r>
            <a:endParaRPr lang="zh-CN" altLang="en-US" sz="11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97300" y="3898900"/>
            <a:ext cx="2971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停止条件驱动，而非盲目调参</a:t>
            </a:r>
            <a:endParaRPr lang="zh-CN" altLang="en-US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175500" y="3124200"/>
            <a:ext cx="3302000" cy="1092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353300" y="3251200"/>
            <a:ext cx="29718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2400" b="1">
                <a:solidFill>
                  <a:srgbClr val="C67D26"/>
                </a:solidFill>
                <a:latin typeface="Microsoft YaHei UI" panose="020B0503020204020204" charset="-122"/>
                <a:ea typeface="Microsoft YaHei UI" panose="020B0503020204020204" charset="-122"/>
              </a:rPr>
              <a:t>关键结论</a:t>
            </a:r>
            <a:endParaRPr lang="zh-CN" altLang="en-US" sz="2400" b="1">
              <a:solidFill>
                <a:srgbClr val="C67D26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353300" y="3657600"/>
            <a:ext cx="29718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150 mm </a:t>
            </a:r>
            <a:r>
              <a:rPr lang="zh-CN" altLang="en-US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暴露车辆模型边界</a:t>
            </a:r>
            <a:endParaRPr lang="zh-CN" altLang="en-US" sz="11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353300" y="3898900"/>
            <a:ext cx="2971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前悬止块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/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离地主导响应</a:t>
            </a:r>
            <a:endParaRPr lang="zh-CN" altLang="en-US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87400" y="7747000"/>
            <a:ext cx="9779000" cy="2965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600">
                <a:solidFill>
                  <a:srgbClr val="E2E7EE"/>
                </a:solidFill>
                <a:latin typeface="Microsoft YaHei UI" panose="020B0503020204020204" charset="-122"/>
                <a:ea typeface="Microsoft YaHei UI" panose="020B0503020204020204" charset="-122"/>
              </a:rPr>
              <a:t>汇报目的：展示我如何把论文工况转化为可复现实验链路，并从失败结果中识别模型边界。</a:t>
            </a:r>
            <a:endParaRPr lang="zh-CN" altLang="en-US" sz="1600">
              <a:solidFill>
                <a:srgbClr val="E2E7EE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84200" y="355600"/>
            <a:ext cx="2921000" cy="204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0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EXECUTIVE SUMMARY</a:t>
            </a:r>
            <a:endParaRPr lang="en-US" altLang="en-US" sz="10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4200" y="736600"/>
            <a:ext cx="7874000" cy="635"/>
          </a:xfrm>
          <a:prstGeom prst="line">
            <a:avLst/>
          </a:prstGeom>
          <a:ln w="12700">
            <a:solidFill>
              <a:srgbClr val="D2D6D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84200" y="889000"/>
            <a:ext cx="11049000" cy="466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这次复现不是简单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"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跑通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"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，而是建立了一套可追溯的工程验证链</a:t>
            </a:r>
            <a:endParaRPr lang="zh-CN" altLang="en-US" sz="27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1600200"/>
            <a:ext cx="104140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导师汇报建议先给结论：我复现了论文凸包工况，也定位了</a:t>
            </a:r>
            <a:r>
              <a:rPr lang="en-US" altLang="zh-CN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full </a:t>
            </a:r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工况失效的物理边界。</a:t>
            </a:r>
            <a:endParaRPr lang="zh-CN" altLang="en-US" sz="13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60400" y="2413000"/>
            <a:ext cx="2286000" cy="1092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2540000"/>
            <a:ext cx="19558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2400" b="1">
                <a:solidFill>
                  <a:srgbClr val="29825B"/>
                </a:solidFill>
                <a:latin typeface="Microsoft YaHei UI" panose="020B0503020204020204" charset="-122"/>
                <a:ea typeface="Microsoft YaHei UI" panose="020B0503020204020204" charset="-122"/>
              </a:rPr>
              <a:t>PASS</a:t>
            </a:r>
            <a:endParaRPr lang="en-US" altLang="en-US" sz="2400" b="1">
              <a:solidFill>
                <a:srgbClr val="29825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8200" y="2946400"/>
            <a:ext cx="19558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Road-2 </a:t>
            </a:r>
            <a:r>
              <a:rPr lang="zh-CN" altLang="en-US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验收</a:t>
            </a:r>
            <a:endParaRPr lang="zh-CN" altLang="en-US" sz="11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8200" y="3187700"/>
            <a:ext cx="1955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单凸包结果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0 warnings</a:t>
            </a:r>
            <a:endParaRPr lang="en-US" altLang="zh-CN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175000" y="2413000"/>
            <a:ext cx="2794000" cy="1092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352800" y="2540000"/>
            <a:ext cx="24638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2400" b="1">
                <a:solidFill>
                  <a:srgbClr val="2860AA"/>
                </a:solidFill>
                <a:latin typeface="Microsoft YaHei UI" panose="020B0503020204020204" charset="-122"/>
                <a:ea typeface="Microsoft YaHei UI" panose="020B0503020204020204" charset="-122"/>
              </a:rPr>
              <a:t>有效</a:t>
            </a:r>
            <a:endParaRPr lang="zh-CN" altLang="en-US" sz="2400" b="1">
              <a:solidFill>
                <a:srgbClr val="2860A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52800" y="2946400"/>
            <a:ext cx="24638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Road-3 T2 pilot</a:t>
            </a:r>
            <a:endParaRPr lang="en-US" altLang="en-US" sz="11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352800" y="3187700"/>
            <a:ext cx="2463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预瞄提前量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W1/W2 = 10/20 ms</a:t>
            </a:r>
            <a:endParaRPr lang="en-US" altLang="zh-CN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223000" y="2413000"/>
            <a:ext cx="2667000" cy="1092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400800" y="2540000"/>
            <a:ext cx="23368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2400" b="1">
                <a:solidFill>
                  <a:srgbClr val="C67D26"/>
                </a:solidFill>
                <a:latin typeface="Microsoft YaHei UI" panose="020B0503020204020204" charset="-122"/>
                <a:ea typeface="Microsoft YaHei UI" panose="020B0503020204020204" charset="-122"/>
              </a:rPr>
              <a:t>未全胜</a:t>
            </a:r>
            <a:endParaRPr lang="zh-CN" altLang="en-US" sz="2400" b="1">
              <a:solidFill>
                <a:srgbClr val="C67D26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400800" y="2946400"/>
            <a:ext cx="23368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Active vs Passive</a:t>
            </a:r>
            <a:endParaRPr lang="en-US" altLang="en-US" sz="11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400800" y="3187700"/>
            <a:ext cx="2336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T2 pilot 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只能改善部分指标</a:t>
            </a:r>
            <a:endParaRPr lang="zh-CN" altLang="en-US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9144000" y="2413000"/>
            <a:ext cx="2349500" cy="1092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9321800" y="2540000"/>
            <a:ext cx="20193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2400" b="1">
                <a:solidFill>
                  <a:srgbClr val="B44641"/>
                </a:solidFill>
                <a:latin typeface="Microsoft YaHei UI" panose="020B0503020204020204" charset="-122"/>
                <a:ea typeface="Microsoft YaHei UI" panose="020B0503020204020204" charset="-122"/>
              </a:rPr>
              <a:t>边界</a:t>
            </a:r>
            <a:endParaRPr lang="zh-CN" altLang="en-US" sz="2400" b="1">
              <a:solidFill>
                <a:srgbClr val="B4464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321800" y="2946400"/>
            <a:ext cx="20193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T2 full 150 mm</a:t>
            </a:r>
            <a:endParaRPr lang="en-US" altLang="en-US" sz="11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321800" y="3187700"/>
            <a:ext cx="20193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Passive 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也发生离地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/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止块冲击</a:t>
            </a:r>
            <a:endParaRPr lang="zh-CN" altLang="en-US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889000" y="44069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117600" y="4318000"/>
            <a:ext cx="9804400" cy="3276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复现层面：道路、速度、输出变量、验收脚本、对比报告和日志均建立可复查链路。</a:t>
            </a:r>
            <a:endParaRPr lang="zh-CN" altLang="en-US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889000" y="50673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117600" y="4978400"/>
            <a:ext cx="9804400" cy="3276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工程层面：每次异常先做可观测性增强，再分离控制器、路面、车辆模型和输出层因素。</a:t>
            </a:r>
            <a:endParaRPr lang="zh-CN" altLang="en-US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89000" y="57277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117600" y="5638800"/>
            <a:ext cx="9804400" cy="3276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科研层面：没有把</a:t>
            </a:r>
            <a:r>
              <a:rPr lang="en-US" altLang="zh-CN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"</a:t>
            </a:r>
            <a:r>
              <a:rPr lang="zh-CN" altLang="en-US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主动控制不如被动</a:t>
            </a:r>
            <a:r>
              <a:rPr lang="en-US" altLang="zh-CN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"</a:t>
            </a:r>
            <a:r>
              <a:rPr lang="zh-CN" altLang="en-US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简单归咎为调参失败，而是识别出车辆模型行程限制。</a:t>
            </a:r>
            <a:endParaRPr lang="zh-CN" altLang="en-US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84200" y="8737600"/>
            <a:ext cx="6604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Road-3 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论文复现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| CarSim-Simulink-MATLAB | 2026-06</a:t>
            </a:r>
            <a:endParaRPr lang="en-US" altLang="zh-CN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582400" y="8712200"/>
            <a:ext cx="304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en-US" altLang="en-US" sz="8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84200" y="355600"/>
            <a:ext cx="2921000" cy="204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0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REPRODUCTION TARGET</a:t>
            </a:r>
            <a:endParaRPr lang="en-US" altLang="en-US" sz="10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4200" y="736600"/>
            <a:ext cx="7874000" cy="635"/>
          </a:xfrm>
          <a:prstGeom prst="line">
            <a:avLst/>
          </a:prstGeom>
          <a:ln w="12700">
            <a:solidFill>
              <a:srgbClr val="D2D6D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84200" y="889000"/>
            <a:ext cx="11049000" cy="466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复现对象被拆成可验收的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Road-3 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speed-bump 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工况</a:t>
            </a:r>
            <a:endParaRPr lang="zh-CN" altLang="en-US" sz="27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1600200"/>
            <a:ext cx="104140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论文只给出凸包高度、长度和速度；我采用现有生成器的</a:t>
            </a:r>
            <a:r>
              <a:rPr lang="en-US" altLang="zh-CN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half-sine </a:t>
            </a:r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路面定义。</a:t>
            </a:r>
            <a:endParaRPr lang="zh-CN" altLang="en-US" sz="13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62000" y="2413000"/>
            <a:ext cx="1524000" cy="4826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2489200"/>
            <a:ext cx="13716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工况</a:t>
            </a:r>
            <a:endParaRPr lang="zh-CN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286000" y="2413000"/>
            <a:ext cx="1397000" cy="4826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362200" y="2489200"/>
            <a:ext cx="12446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高度</a:t>
            </a:r>
            <a:endParaRPr lang="zh-CN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83000" y="2413000"/>
            <a:ext cx="1397000" cy="4826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759200" y="2489200"/>
            <a:ext cx="12446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长度</a:t>
            </a:r>
            <a:endParaRPr lang="zh-CN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80000" y="2413000"/>
            <a:ext cx="1524000" cy="4826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156200" y="2489200"/>
            <a:ext cx="13716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速度</a:t>
            </a:r>
            <a:endParaRPr lang="zh-CN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04000" y="2413000"/>
            <a:ext cx="3810000" cy="4826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680200" y="2489200"/>
            <a:ext cx="36576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路面采样</a:t>
            </a:r>
            <a:endParaRPr lang="zh-CN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62000" y="2895600"/>
            <a:ext cx="15240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38200" y="2959100"/>
            <a:ext cx="1371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T1 pilot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286000" y="2895600"/>
            <a:ext cx="13970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2362200" y="2959100"/>
            <a:ext cx="1244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10 mm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683000" y="2895600"/>
            <a:ext cx="13970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759200" y="2959100"/>
            <a:ext cx="1244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0.4 m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080000" y="2895600"/>
            <a:ext cx="15240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156200" y="2959100"/>
            <a:ext cx="1371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30 km/h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604000" y="2895600"/>
            <a:ext cx="38100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680200" y="2959100"/>
            <a:ext cx="3657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s0=60 m, dx=0.02 m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62000" y="3378200"/>
            <a:ext cx="15240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38200" y="3441700"/>
            <a:ext cx="1371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T1 full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286000" y="3378200"/>
            <a:ext cx="13970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2362200" y="3441700"/>
            <a:ext cx="1244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50 mm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683000" y="3378200"/>
            <a:ext cx="13970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3759200" y="3441700"/>
            <a:ext cx="1244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0.4 m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080000" y="3378200"/>
            <a:ext cx="15240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5156200" y="3441700"/>
            <a:ext cx="1371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30 km/h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604000" y="3378200"/>
            <a:ext cx="38100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6680200" y="3441700"/>
            <a:ext cx="3657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s0=60 m, dx=0.02 m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62000" y="3860800"/>
            <a:ext cx="15240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838200" y="3924300"/>
            <a:ext cx="1371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T2 pilot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86000" y="3860800"/>
            <a:ext cx="13970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2362200" y="3924300"/>
            <a:ext cx="1244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50 mm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683000" y="3860800"/>
            <a:ext cx="13970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3759200" y="3924300"/>
            <a:ext cx="1244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2.5 m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080000" y="3860800"/>
            <a:ext cx="15240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156200" y="3924300"/>
            <a:ext cx="1371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50 km/h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604000" y="3860800"/>
            <a:ext cx="38100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6680200" y="3924300"/>
            <a:ext cx="3657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s0=100 m, dx=0.05 m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62000" y="4343400"/>
            <a:ext cx="15240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838200" y="4406900"/>
            <a:ext cx="1371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T2 full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2286000" y="4343400"/>
            <a:ext cx="13970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2362200" y="4406900"/>
            <a:ext cx="1244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150 mm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683000" y="4343400"/>
            <a:ext cx="13970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3759200" y="4406900"/>
            <a:ext cx="1244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2.5 m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080000" y="4343400"/>
            <a:ext cx="15240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5156200" y="4406900"/>
            <a:ext cx="1371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50 km/h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604000" y="4343400"/>
            <a:ext cx="38100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6680200" y="4406900"/>
            <a:ext cx="3657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s0=100 m, dx=0.05 m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89000" y="5207000"/>
            <a:ext cx="3302000" cy="2965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6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复现质量控制</a:t>
            </a:r>
            <a:endParaRPr lang="zh-CN" altLang="en-US" sz="16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939800" y="57531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1168400" y="5664200"/>
            <a:ext cx="9550400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路面文件峰值、端点、峰值位置和</a:t>
            </a:r>
            <a:r>
              <a:rPr lang="en-US" altLang="zh-CN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NaN/Inf </a:t>
            </a:r>
            <a:r>
              <a:rPr lang="zh-CN" altLang="en-US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检查。</a:t>
            </a:r>
            <a:endParaRPr lang="zh-CN" altLang="en-US" sz="14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939800" y="62611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1168400" y="6172200"/>
            <a:ext cx="9550400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输出变量追加</a:t>
            </a:r>
            <a:r>
              <a:rPr lang="en-US" altLang="zh-CN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Zcg_SM</a:t>
            </a:r>
            <a:r>
              <a:rPr lang="zh-CN" altLang="en-US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、</a:t>
            </a:r>
            <a:r>
              <a:rPr lang="en-US" altLang="zh-CN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AA_P</a:t>
            </a:r>
            <a:r>
              <a:rPr lang="zh-CN" altLang="en-US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、</a:t>
            </a:r>
            <a:r>
              <a:rPr lang="en-US" altLang="zh-CN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AA_R</a:t>
            </a:r>
            <a:r>
              <a:rPr lang="zh-CN" altLang="en-US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、</a:t>
            </a:r>
            <a:r>
              <a:rPr lang="en-US" altLang="zh-CN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FJSt/FRSt </a:t>
            </a:r>
            <a:r>
              <a:rPr lang="zh-CN" altLang="en-US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等诊断量。</a:t>
            </a:r>
            <a:endParaRPr lang="zh-CN" altLang="en-US" sz="14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939800" y="67691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1168400" y="6680200"/>
            <a:ext cx="9550400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每次切换控制模式清</a:t>
            </a:r>
            <a:r>
              <a:rPr lang="en-US" altLang="zh-CN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persistent</a:t>
            </a:r>
            <a:r>
              <a:rPr lang="zh-CN" altLang="en-US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，避免状态污染。</a:t>
            </a:r>
            <a:endParaRPr lang="zh-CN" altLang="en-US" sz="14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84200" y="8737600"/>
            <a:ext cx="6604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Road-3 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论文复现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| CarSim-Simulink-MATLAB | 2026-06</a:t>
            </a:r>
            <a:endParaRPr lang="en-US" altLang="zh-CN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1582400" y="8712200"/>
            <a:ext cx="304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en-US" altLang="en-US" sz="8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84200" y="355600"/>
            <a:ext cx="2921000" cy="204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0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ENGINEERING PIPELINE</a:t>
            </a:r>
            <a:endParaRPr lang="en-US" altLang="en-US" sz="10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4200" y="736600"/>
            <a:ext cx="7874000" cy="635"/>
          </a:xfrm>
          <a:prstGeom prst="line">
            <a:avLst/>
          </a:prstGeom>
          <a:ln w="12700">
            <a:solidFill>
              <a:srgbClr val="D2D6D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84200" y="889000"/>
            <a:ext cx="11049000" cy="466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我把复现搭成了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"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道路生成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-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仿真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-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验收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-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诊断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-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回退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"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的闭环</a:t>
            </a:r>
            <a:endParaRPr lang="zh-CN" altLang="en-US" sz="27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1600200"/>
            <a:ext cx="104140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重点不是单次结果，而是每一步都有输入、输出、判据和回退点。</a:t>
            </a:r>
            <a:endParaRPr lang="zh-CN" altLang="en-US" sz="13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36600" y="2184400"/>
            <a:ext cx="3302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89000" y="2374900"/>
            <a:ext cx="381000" cy="3810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65200" y="2438400"/>
            <a:ext cx="2286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1</a:t>
            </a:r>
            <a:endParaRPr lang="en-US" altLang="en-US" sz="11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97000" y="2336800"/>
            <a:ext cx="24892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道路生成</a:t>
            </a:r>
            <a:endParaRPr lang="zh-CN" altLang="en-US" sz="13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97000" y="2628900"/>
            <a:ext cx="2489200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half-sine bump CSV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；短凸包</a:t>
            </a:r>
            <a:r>
              <a:rPr lang="en-US" altLang="zh-CN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0.02 m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、长凸包</a:t>
            </a:r>
            <a:r>
              <a:rPr lang="en-US" altLang="zh-CN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0.05 m 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加密采样。</a:t>
            </a:r>
            <a:endParaRPr lang="zh-CN" altLang="en-US" sz="10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45000" y="2184400"/>
            <a:ext cx="3302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4597400" y="2374900"/>
            <a:ext cx="381000" cy="381000"/>
          </a:xfrm>
          <a:prstGeom prst="ellipse">
            <a:avLst/>
          </a:prstGeom>
          <a:solidFill>
            <a:srgbClr val="2860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673600" y="2438400"/>
            <a:ext cx="2286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2</a:t>
            </a:r>
            <a:endParaRPr lang="en-US" altLang="en-US" sz="11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05400" y="2336800"/>
            <a:ext cx="24892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3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CarSim/Simulink</a:t>
            </a:r>
            <a:endParaRPr lang="en-US" altLang="en-US" sz="13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105400" y="2628900"/>
            <a:ext cx="2489200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冻结</a:t>
            </a:r>
            <a:r>
              <a:rPr lang="en-US" altLang="zh-CN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B3 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基准控制器，逐步切换</a:t>
            </a:r>
            <a:r>
              <a:rPr lang="en-US" altLang="zh-CN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Passive/no-preview/preview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lang="zh-CN" altLang="en-US" sz="10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153400" y="2184400"/>
            <a:ext cx="3302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8305800" y="2374900"/>
            <a:ext cx="381000" cy="381000"/>
          </a:xfrm>
          <a:prstGeom prst="ellipse">
            <a:avLst/>
          </a:prstGeom>
          <a:solidFill>
            <a:srgbClr val="29825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382000" y="2438400"/>
            <a:ext cx="2286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3</a:t>
            </a:r>
            <a:endParaRPr lang="en-US" altLang="en-US" sz="11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813800" y="2336800"/>
            <a:ext cx="24892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验收脚本</a:t>
            </a:r>
            <a:endParaRPr lang="zh-CN" altLang="en-US" sz="13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813800" y="2628900"/>
            <a:ext cx="2489200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AnalyzeRoadAcceptance / Road3Bump / T2PassiveGap 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自动输出报告。</a:t>
            </a:r>
            <a:endParaRPr lang="zh-CN" altLang="en-US" sz="10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36600" y="3937000"/>
            <a:ext cx="3302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89000" y="4127500"/>
            <a:ext cx="381000" cy="381000"/>
          </a:xfrm>
          <a:prstGeom prst="ellipse">
            <a:avLst/>
          </a:prstGeom>
          <a:solidFill>
            <a:srgbClr val="C67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65200" y="4191000"/>
            <a:ext cx="2286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4</a:t>
            </a:r>
            <a:endParaRPr lang="en-US" altLang="en-US" sz="11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97000" y="4089400"/>
            <a:ext cx="24892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诊断增强</a:t>
            </a:r>
            <a:endParaRPr lang="zh-CN" altLang="en-US" sz="13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97000" y="4381500"/>
            <a:ext cx="2489200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追加止块力、轮胎力、悬架行程和低频分频</a:t>
            </a:r>
            <a:r>
              <a:rPr lang="en-US" altLang="zh-CN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RMS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lang="zh-CN" altLang="en-US" sz="10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4445000" y="3937000"/>
            <a:ext cx="3302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4597400" y="4127500"/>
            <a:ext cx="381000" cy="3810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4673600" y="4191000"/>
            <a:ext cx="2286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5</a:t>
            </a:r>
            <a:endParaRPr lang="en-US" altLang="en-US" sz="11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105400" y="4089400"/>
            <a:ext cx="24892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控制器重训</a:t>
            </a:r>
            <a:endParaRPr lang="zh-CN" altLang="en-US" sz="13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105400" y="4381500"/>
            <a:ext cx="2489200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rho/Q profile 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离线重训，保留历史数据可回退。</a:t>
            </a:r>
            <a:endParaRPr lang="zh-CN" altLang="en-US" sz="10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8153400" y="3937000"/>
            <a:ext cx="3302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8305800" y="4127500"/>
            <a:ext cx="381000" cy="381000"/>
          </a:xfrm>
          <a:prstGeom prst="ellipse">
            <a:avLst/>
          </a:prstGeom>
          <a:solidFill>
            <a:srgbClr val="B4464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8382000" y="4191000"/>
            <a:ext cx="2286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6</a:t>
            </a:r>
            <a:endParaRPr lang="en-US" altLang="en-US" sz="11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813800" y="4089400"/>
            <a:ext cx="24892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停止条件</a:t>
            </a:r>
            <a:endParaRPr lang="zh-CN" altLang="en-US" sz="13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13800" y="4381500"/>
            <a:ext cx="2489200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若轴向隔离、</a:t>
            </a:r>
            <a:r>
              <a:rPr lang="en-US" altLang="zh-CN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Q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重训、能量门控均不能全胜，则停止盲目调参。</a:t>
            </a:r>
            <a:endParaRPr lang="zh-CN" altLang="en-US" sz="10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90600" y="7429500"/>
            <a:ext cx="10033000" cy="311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工程思维体现：先扩大可观测性，再做控制变量实验；每次结论都能追到</a:t>
            </a:r>
            <a:r>
              <a:rPr lang="en-US" altLang="zh-CN" sz="1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CSV</a:t>
            </a:r>
            <a:r>
              <a:rPr lang="zh-CN" altLang="en-US" sz="1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、脚本和日志。</a:t>
            </a:r>
            <a:endParaRPr lang="zh-CN" altLang="en-US" sz="17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84200" y="8737600"/>
            <a:ext cx="6604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Road-3 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论文复现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| CarSim-Simulink-MATLAB | 2026-06</a:t>
            </a:r>
            <a:endParaRPr lang="en-US" altLang="zh-CN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1582400" y="8712200"/>
            <a:ext cx="304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04</a:t>
            </a:r>
            <a:endParaRPr lang="en-US" altLang="en-US" sz="8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84200" y="355600"/>
            <a:ext cx="2921000" cy="204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0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PILOT FINDINGS</a:t>
            </a:r>
            <a:endParaRPr lang="en-US" altLang="en-US" sz="10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4200" y="736600"/>
            <a:ext cx="7874000" cy="635"/>
          </a:xfrm>
          <a:prstGeom prst="line">
            <a:avLst/>
          </a:prstGeom>
          <a:ln w="12700">
            <a:solidFill>
              <a:srgbClr val="D2D6D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84200" y="889000"/>
            <a:ext cx="11049000" cy="466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T2 pilot 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暴露出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Passive 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是强基线，主动只能改善部分指标</a:t>
            </a:r>
            <a:endParaRPr lang="zh-CN" altLang="en-US" sz="27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1600200"/>
            <a:ext cx="104140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第一轮</a:t>
            </a:r>
            <a:r>
              <a:rPr lang="en-US" altLang="zh-CN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preview </a:t>
            </a:r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跑通后，我没有直接上</a:t>
            </a:r>
            <a:r>
              <a:rPr lang="en-US" altLang="zh-CN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150 mm</a:t>
            </a:r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，而是先检查速度、预瞄、限幅和行程。</a:t>
            </a:r>
            <a:endParaRPr lang="zh-CN" altLang="en-US" sz="13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16000" y="2667000"/>
            <a:ext cx="14732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Az event RMS</a:t>
            </a:r>
            <a:endParaRPr lang="en-US" altLang="en-US" sz="9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16200" y="2705100"/>
            <a:ext cx="3963670" cy="101600"/>
          </a:xfrm>
          <a:prstGeom prst="rect">
            <a:avLst/>
          </a:prstGeom>
          <a:solidFill>
            <a:srgbClr val="6A707A"/>
          </a:solidFill>
          <a:ln w="10160">
            <a:solidFill>
              <a:srgbClr val="6A707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16200" y="2882900"/>
            <a:ext cx="3924935" cy="101600"/>
          </a:xfrm>
          <a:prstGeom prst="rect">
            <a:avLst/>
          </a:prstGeom>
          <a:solidFill>
            <a:srgbClr val="2860AA"/>
          </a:solidFill>
          <a:ln w="10160">
            <a:solidFill>
              <a:srgbClr val="2860A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051800" y="2654300"/>
            <a:ext cx="1143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P 1.115 m/s²</a:t>
            </a:r>
            <a:endParaRPr lang="en-US" altLang="en-US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051800" y="2832100"/>
            <a:ext cx="1143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2860AA"/>
                </a:solidFill>
                <a:latin typeface="Microsoft YaHei UI" panose="020B0503020204020204" charset="-122"/>
                <a:ea typeface="Microsoft YaHei UI" panose="020B0503020204020204" charset="-122"/>
              </a:rPr>
              <a:t>A 1.104 m/s²</a:t>
            </a:r>
            <a:endParaRPr lang="en-US" altLang="en-US" sz="800">
              <a:solidFill>
                <a:srgbClr val="2860A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16000" y="3327400"/>
            <a:ext cx="14732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Az 0-4 RMS</a:t>
            </a:r>
            <a:endParaRPr lang="en-US" altLang="en-US" sz="9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16200" y="3365500"/>
            <a:ext cx="3382010" cy="101600"/>
          </a:xfrm>
          <a:prstGeom prst="rect">
            <a:avLst/>
          </a:prstGeom>
          <a:solidFill>
            <a:srgbClr val="6A707A"/>
          </a:solidFill>
          <a:ln w="10160">
            <a:solidFill>
              <a:srgbClr val="6A707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616200" y="3543300"/>
            <a:ext cx="3159760" cy="101600"/>
          </a:xfrm>
          <a:prstGeom prst="rect">
            <a:avLst/>
          </a:prstGeom>
          <a:solidFill>
            <a:srgbClr val="2860AA"/>
          </a:solidFill>
          <a:ln w="10160">
            <a:solidFill>
              <a:srgbClr val="2860A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051800" y="3314700"/>
            <a:ext cx="1143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P 0.634 m/s²</a:t>
            </a:r>
            <a:endParaRPr lang="en-US" altLang="en-US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051800" y="3492500"/>
            <a:ext cx="1143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2860AA"/>
                </a:solidFill>
                <a:latin typeface="Microsoft YaHei UI" panose="020B0503020204020204" charset="-122"/>
                <a:ea typeface="Microsoft YaHei UI" panose="020B0503020204020204" charset="-122"/>
              </a:rPr>
              <a:t>A 0.592 m/s²</a:t>
            </a:r>
            <a:endParaRPr lang="en-US" altLang="en-US" sz="800">
              <a:solidFill>
                <a:srgbClr val="2860A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16000" y="3987800"/>
            <a:ext cx="14732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Pitch peak</a:t>
            </a:r>
            <a:endParaRPr lang="en-US" altLang="en-US" sz="9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616200" y="4025900"/>
            <a:ext cx="3647440" cy="101600"/>
          </a:xfrm>
          <a:prstGeom prst="rect">
            <a:avLst/>
          </a:prstGeom>
          <a:solidFill>
            <a:srgbClr val="6A707A"/>
          </a:solidFill>
          <a:ln w="10160">
            <a:solidFill>
              <a:srgbClr val="6A707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616200" y="4203700"/>
            <a:ext cx="4222750" cy="101600"/>
          </a:xfrm>
          <a:prstGeom prst="rect">
            <a:avLst/>
          </a:prstGeom>
          <a:solidFill>
            <a:srgbClr val="2860AA"/>
          </a:solidFill>
          <a:ln w="10160">
            <a:solidFill>
              <a:srgbClr val="2860A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051800" y="3975100"/>
            <a:ext cx="1143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P 1.231 deg</a:t>
            </a:r>
            <a:endParaRPr lang="en-US" altLang="en-US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051800" y="4152900"/>
            <a:ext cx="1143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2860AA"/>
                </a:solidFill>
                <a:latin typeface="Microsoft YaHei UI" panose="020B0503020204020204" charset="-122"/>
                <a:ea typeface="Microsoft YaHei UI" panose="020B0503020204020204" charset="-122"/>
              </a:rPr>
              <a:t>A 1.425 deg</a:t>
            </a:r>
            <a:endParaRPr lang="en-US" altLang="en-US" sz="800">
              <a:solidFill>
                <a:srgbClr val="2860A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16000" y="4648200"/>
            <a:ext cx="14732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Rear Jnc min abs</a:t>
            </a:r>
            <a:endParaRPr lang="en-US" altLang="en-US" sz="9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616200" y="4686300"/>
            <a:ext cx="2351405" cy="101600"/>
          </a:xfrm>
          <a:prstGeom prst="rect">
            <a:avLst/>
          </a:prstGeom>
          <a:solidFill>
            <a:srgbClr val="6A707A"/>
          </a:solidFill>
          <a:ln w="10160">
            <a:solidFill>
              <a:srgbClr val="6A707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616200" y="4864100"/>
            <a:ext cx="4353560" cy="101600"/>
          </a:xfrm>
          <a:prstGeom prst="rect">
            <a:avLst/>
          </a:prstGeom>
          <a:solidFill>
            <a:srgbClr val="2860AA"/>
          </a:solidFill>
          <a:ln w="10160">
            <a:solidFill>
              <a:srgbClr val="2860A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051800" y="4635500"/>
            <a:ext cx="1143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P 14.108 mm</a:t>
            </a:r>
            <a:endParaRPr lang="en-US" altLang="en-US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051800" y="4813300"/>
            <a:ext cx="1143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2860AA"/>
                </a:solidFill>
                <a:latin typeface="Microsoft YaHei UI" panose="020B0503020204020204" charset="-122"/>
                <a:ea typeface="Microsoft YaHei UI" panose="020B0503020204020204" charset="-122"/>
              </a:rPr>
              <a:t>A 26.119 mm</a:t>
            </a:r>
            <a:endParaRPr lang="en-US" altLang="en-US" sz="800">
              <a:solidFill>
                <a:srgbClr val="2860A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43000" y="5664200"/>
            <a:ext cx="8001000" cy="234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2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灰色</a:t>
            </a:r>
            <a:r>
              <a:rPr lang="en-US" altLang="zh-CN" sz="12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=Passive</a:t>
            </a:r>
            <a:r>
              <a:rPr lang="zh-CN" altLang="en-US" sz="12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，蓝色</a:t>
            </a:r>
            <a:r>
              <a:rPr lang="en-US" altLang="zh-CN" sz="12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=Q comfort C</a:t>
            </a:r>
            <a:r>
              <a:rPr lang="zh-CN" altLang="en-US" sz="12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r>
              <a:rPr lang="en-US" altLang="zh-CN" sz="12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Q_C </a:t>
            </a:r>
            <a:r>
              <a:rPr lang="zh-CN" altLang="en-US" sz="12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压低了</a:t>
            </a:r>
            <a:r>
              <a:rPr lang="en-US" altLang="zh-CN" sz="12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Az</a:t>
            </a:r>
            <a:r>
              <a:rPr lang="zh-CN" altLang="en-US" sz="12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，但牺牲</a:t>
            </a:r>
            <a:r>
              <a:rPr lang="en-US" altLang="zh-CN" sz="12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pitch </a:t>
            </a:r>
            <a:r>
              <a:rPr lang="zh-CN" altLang="en-US" sz="12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和后悬回弹行程。</a:t>
            </a:r>
            <a:endParaRPr lang="zh-CN" altLang="en-US" sz="12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8255000" y="2616200"/>
            <a:ext cx="3048000" cy="2565400"/>
          </a:xfrm>
          <a:prstGeom prst="roundRect">
            <a:avLst/>
          </a:prstGeom>
          <a:solidFill>
            <a:srgbClr val="F9ECD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8509000" y="2844800"/>
            <a:ext cx="2540000" cy="2965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6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关键判断</a:t>
            </a:r>
            <a:endParaRPr lang="zh-CN" altLang="en-US" sz="16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8509000" y="34417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8737600" y="3352800"/>
            <a:ext cx="2247900" cy="234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2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不能只看一个舒适性指标。</a:t>
            </a:r>
            <a:endParaRPr lang="zh-CN" altLang="en-US" sz="12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8509000" y="38989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8737600" y="3810000"/>
            <a:ext cx="22479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2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主动控制可能把能量转移到姿态或悬架行程。</a:t>
            </a:r>
            <a:endParaRPr lang="zh-CN" altLang="en-US" sz="12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8509000" y="43561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8737600" y="4267200"/>
            <a:ext cx="22479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2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需要轴向隔离和能量门控继续定位。</a:t>
            </a:r>
            <a:endParaRPr lang="zh-CN" altLang="en-US" sz="12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84200" y="8737600"/>
            <a:ext cx="6604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Road-3 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论文复现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| CarSim-Simulink-MATLAB | 2026-06</a:t>
            </a:r>
            <a:endParaRPr lang="en-US" altLang="zh-CN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1582400" y="8712200"/>
            <a:ext cx="304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05</a:t>
            </a:r>
            <a:endParaRPr lang="en-US" altLang="en-US" sz="8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84200" y="355600"/>
            <a:ext cx="2921000" cy="204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0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AXIS ISOLATION</a:t>
            </a:r>
            <a:endParaRPr lang="en-US" altLang="en-US" sz="10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4200" y="736600"/>
            <a:ext cx="7874000" cy="635"/>
          </a:xfrm>
          <a:prstGeom prst="line">
            <a:avLst/>
          </a:prstGeom>
          <a:ln w="12700">
            <a:solidFill>
              <a:srgbClr val="D2D6D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84200" y="889000"/>
            <a:ext cx="11049000" cy="466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轴向隔离证明：后轴控制能压低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Az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，前轴控制更偏向改善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pitch</a:t>
            </a:r>
            <a:endParaRPr lang="en-US" altLang="zh-CN" sz="27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1600200"/>
            <a:ext cx="104140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这一步避免了把前后轴混在一起盲调参数。</a:t>
            </a:r>
            <a:endParaRPr lang="zh-CN" altLang="en-US" sz="13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7400" y="2413000"/>
            <a:ext cx="1587500" cy="5588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63600" y="2489200"/>
            <a:ext cx="1435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模式</a:t>
            </a:r>
            <a:endParaRPr lang="zh-CN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374900" y="2413000"/>
            <a:ext cx="1333500" cy="5588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451100" y="2489200"/>
            <a:ext cx="1181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Az event gap</a:t>
            </a:r>
            <a:endParaRPr lang="en-US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708400" y="2413000"/>
            <a:ext cx="1333500" cy="5588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784600" y="2489200"/>
            <a:ext cx="1181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Az 0-4 gap</a:t>
            </a:r>
            <a:endParaRPr lang="en-US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41900" y="2413000"/>
            <a:ext cx="1333500" cy="5588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118100" y="2489200"/>
            <a:ext cx="1181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Pitch gap</a:t>
            </a:r>
            <a:endParaRPr lang="en-US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375400" y="2413000"/>
            <a:ext cx="1333500" cy="5588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451600" y="2489200"/>
            <a:ext cx="1181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Rear Jnc gap</a:t>
            </a:r>
            <a:endParaRPr lang="en-US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708900" y="2413000"/>
            <a:ext cx="3302000" cy="5588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785100" y="2489200"/>
            <a:ext cx="31496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判断</a:t>
            </a:r>
            <a:endParaRPr lang="zh-CN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87400" y="2971800"/>
            <a:ext cx="1587500" cy="55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63600" y="3035300"/>
            <a:ext cx="1435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Both tight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374900" y="2971800"/>
            <a:ext cx="1333500" cy="55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451100" y="30353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+0.220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08400" y="2971800"/>
            <a:ext cx="1333500" cy="55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784600" y="30353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+0.278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041900" y="2971800"/>
            <a:ext cx="1333500" cy="55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5118100" y="30353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+0.119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375400" y="2971800"/>
            <a:ext cx="1333500" cy="55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451600" y="30353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-13.95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708900" y="2971800"/>
            <a:ext cx="3302000" cy="55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7785100" y="3035300"/>
            <a:ext cx="3149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不作为主线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87400" y="3530600"/>
            <a:ext cx="1587500" cy="5588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863600" y="3594100"/>
            <a:ext cx="1435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Front only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374900" y="3530600"/>
            <a:ext cx="1333500" cy="5588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2451100" y="35941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+0.257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708400" y="3530600"/>
            <a:ext cx="1333500" cy="5588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3784600" y="35941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+0.335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041900" y="3530600"/>
            <a:ext cx="1333500" cy="5588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118100" y="35941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-0.155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375400" y="3530600"/>
            <a:ext cx="1333500" cy="5588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451600" y="35941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-0.58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708900" y="3530600"/>
            <a:ext cx="3302000" cy="5588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7785100" y="3594100"/>
            <a:ext cx="3149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pitch </a:t>
            </a:r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好但</a:t>
            </a:r>
            <a:r>
              <a:rPr lang="en-US" altLang="zh-CN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Az </a:t>
            </a:r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恶化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87400" y="4089400"/>
            <a:ext cx="1587500" cy="55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863600" y="4152900"/>
            <a:ext cx="1435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Rear only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374900" y="4089400"/>
            <a:ext cx="1333500" cy="55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2451100" y="41529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-0.018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708400" y="4089400"/>
            <a:ext cx="1333500" cy="55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3784600" y="41529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-0.046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041900" y="4089400"/>
            <a:ext cx="1333500" cy="55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5118100" y="41529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+0.246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375400" y="4089400"/>
            <a:ext cx="1333500" cy="55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6451600" y="41529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-13.15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708900" y="4089400"/>
            <a:ext cx="3302000" cy="55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7785100" y="4152900"/>
            <a:ext cx="3149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进入</a:t>
            </a:r>
            <a:r>
              <a:rPr lang="en-US" altLang="zh-CN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Q comfort</a:t>
            </a:r>
            <a:endParaRPr lang="en-US" altLang="zh-CN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990600" y="5461000"/>
            <a:ext cx="4635500" cy="1219200"/>
          </a:xfrm>
          <a:prstGeom prst="roundRect">
            <a:avLst/>
          </a:prstGeom>
          <a:solidFill>
            <a:srgbClr val="E0F2E8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1244600" y="5689600"/>
            <a:ext cx="3302000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500" b="1">
                <a:solidFill>
                  <a:srgbClr val="29825B"/>
                </a:solidFill>
                <a:latin typeface="Microsoft YaHei UI" panose="020B0503020204020204" charset="-122"/>
                <a:ea typeface="Microsoft YaHei UI" panose="020B0503020204020204" charset="-122"/>
              </a:rPr>
              <a:t>实验设计能力</a:t>
            </a:r>
            <a:endParaRPr lang="zh-CN" altLang="en-US" sz="1500" b="1">
              <a:solidFill>
                <a:srgbClr val="29825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244600" y="6096000"/>
            <a:ext cx="393700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我用控制变量法分离前轴</a:t>
            </a:r>
            <a:r>
              <a:rPr lang="en-US" altLang="zh-CN" sz="13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/</a:t>
            </a:r>
            <a:r>
              <a:rPr lang="zh-CN" altLang="en-US" sz="13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后轴贡献，而不是在一个耦合系统里直接堆参数。</a:t>
            </a:r>
            <a:endParaRPr lang="zh-CN" altLang="en-US" sz="13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6350000" y="5461000"/>
            <a:ext cx="4635500" cy="1219200"/>
          </a:xfrm>
          <a:prstGeom prst="roundRect">
            <a:avLst/>
          </a:prstGeom>
          <a:solidFill>
            <a:srgbClr val="E2ECF8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6604000" y="5689600"/>
            <a:ext cx="3302000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500" b="1">
                <a:solidFill>
                  <a:srgbClr val="2860AA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下一步逻辑</a:t>
            </a:r>
            <a:endParaRPr lang="zh-CN" altLang="en-US" sz="1500" b="1">
              <a:solidFill>
                <a:srgbClr val="2860A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604000" y="6096000"/>
            <a:ext cx="393700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以</a:t>
            </a:r>
            <a:r>
              <a:rPr lang="en-US" altLang="zh-CN" sz="13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rear-only </a:t>
            </a:r>
            <a:r>
              <a:rPr lang="zh-CN" altLang="en-US" sz="13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为主线做</a:t>
            </a:r>
            <a:r>
              <a:rPr lang="en-US" altLang="zh-CN" sz="13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comfort profile</a:t>
            </a:r>
            <a:r>
              <a:rPr lang="zh-CN" altLang="en-US" sz="13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，后续再用</a:t>
            </a:r>
            <a:r>
              <a:rPr lang="en-US" altLang="zh-CN" sz="13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gate </a:t>
            </a:r>
            <a:r>
              <a:rPr lang="zh-CN" altLang="en-US" sz="13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抑制回弹阶段能量注入。</a:t>
            </a:r>
            <a:endParaRPr lang="zh-CN" altLang="en-US" sz="13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84200" y="8737600"/>
            <a:ext cx="6604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Road-3 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论文复现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| CarSim-Simulink-MATLAB | 2026-06</a:t>
            </a:r>
            <a:endParaRPr lang="en-US" altLang="zh-CN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1582400" y="8712200"/>
            <a:ext cx="304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06</a:t>
            </a:r>
            <a:endParaRPr lang="en-US" altLang="en-US" sz="8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84200" y="355600"/>
            <a:ext cx="2921000" cy="204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0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COMFORT RETRAINING</a:t>
            </a:r>
            <a:endParaRPr lang="en-US" altLang="en-US" sz="10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4200" y="736600"/>
            <a:ext cx="7874000" cy="635"/>
          </a:xfrm>
          <a:prstGeom prst="line">
            <a:avLst/>
          </a:prstGeom>
          <a:ln w="12700">
            <a:solidFill>
              <a:srgbClr val="D2D6D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84200" y="889000"/>
            <a:ext cx="11049000" cy="8813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Q comfort C 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是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pilot 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阶段综合最好的折中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profile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，但仍不能全方位超过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Passive</a:t>
            </a:r>
            <a:endParaRPr lang="en-US" altLang="zh-CN" sz="27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1600200"/>
            <a:ext cx="104140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A/B/C </a:t>
            </a:r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重跑前做了</a:t>
            </a:r>
            <a:r>
              <a:rPr lang="en-US" altLang="zh-CN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hash </a:t>
            </a:r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有效性检查，避免把同一份结果误认为三组调参结果。</a:t>
            </a:r>
            <a:endParaRPr lang="zh-CN" altLang="en-US" sz="13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7400" y="2336800"/>
            <a:ext cx="1587500" cy="5334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63600" y="2413000"/>
            <a:ext cx="1435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profile</a:t>
            </a:r>
            <a:endParaRPr lang="en-US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374900" y="2336800"/>
            <a:ext cx="1333500" cy="5334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451100" y="2413000"/>
            <a:ext cx="1181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Az event gap</a:t>
            </a:r>
            <a:endParaRPr lang="en-US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708400" y="2336800"/>
            <a:ext cx="1333500" cy="5334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784600" y="2413000"/>
            <a:ext cx="1181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Az 0-4 gap</a:t>
            </a:r>
            <a:endParaRPr lang="en-US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41900" y="2336800"/>
            <a:ext cx="1333500" cy="5334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118100" y="2413000"/>
            <a:ext cx="1181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Pitch gap</a:t>
            </a:r>
            <a:endParaRPr lang="en-US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375400" y="2336800"/>
            <a:ext cx="1333500" cy="5334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451600" y="2413000"/>
            <a:ext cx="1181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Rear Jnc gap</a:t>
            </a:r>
            <a:endParaRPr lang="en-US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708900" y="2336800"/>
            <a:ext cx="3302000" cy="5334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785100" y="2413000"/>
            <a:ext cx="31496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判断</a:t>
            </a:r>
            <a:endParaRPr lang="zh-CN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87400" y="2870200"/>
            <a:ext cx="1587500" cy="53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63600" y="2933700"/>
            <a:ext cx="1435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Rear only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374900" y="2870200"/>
            <a:ext cx="1333500" cy="53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451100" y="29337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-0.018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08400" y="2870200"/>
            <a:ext cx="1333500" cy="53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784600" y="29337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-0.046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041900" y="2870200"/>
            <a:ext cx="1333500" cy="53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5118100" y="29337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+0.246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375400" y="2870200"/>
            <a:ext cx="1333500" cy="53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451600" y="29337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-13.15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708900" y="2870200"/>
            <a:ext cx="3302000" cy="53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7785100" y="2933700"/>
            <a:ext cx="3149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Az </a:t>
            </a:r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最好，姿态差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87400" y="3403600"/>
            <a:ext cx="1587500" cy="5334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863600" y="3467100"/>
            <a:ext cx="1435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Q comfort A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374900" y="3403600"/>
            <a:ext cx="1333500" cy="5334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2451100" y="34671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-0.012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708400" y="3403600"/>
            <a:ext cx="1333500" cy="5334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3784600" y="34671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-0.043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041900" y="3403600"/>
            <a:ext cx="1333500" cy="5334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118100" y="34671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+0.229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375400" y="3403600"/>
            <a:ext cx="1333500" cy="5334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451600" y="34671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-12.79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708900" y="3403600"/>
            <a:ext cx="3302000" cy="5334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7785100" y="3467100"/>
            <a:ext cx="3149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略改善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87400" y="3937000"/>
            <a:ext cx="1587500" cy="53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863600" y="4000500"/>
            <a:ext cx="1435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Q comfort B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374900" y="3937000"/>
            <a:ext cx="1333500" cy="53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2451100" y="40005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-0.011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708400" y="3937000"/>
            <a:ext cx="1333500" cy="53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3784600" y="40005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-0.037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041900" y="3937000"/>
            <a:ext cx="1333500" cy="53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5118100" y="40005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+0.214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375400" y="3937000"/>
            <a:ext cx="1333500" cy="53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6451600" y="40005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-12.46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708900" y="3937000"/>
            <a:ext cx="3302000" cy="53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7785100" y="4000500"/>
            <a:ext cx="3149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略改善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87400" y="4470400"/>
            <a:ext cx="1587500" cy="5334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863600" y="4533900"/>
            <a:ext cx="1435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Q comfort C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374900" y="4470400"/>
            <a:ext cx="1333500" cy="5334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2451100" y="45339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-0.011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708400" y="4470400"/>
            <a:ext cx="1333500" cy="5334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3784600" y="45339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-0.042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5041900" y="4470400"/>
            <a:ext cx="1333500" cy="5334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5118100" y="45339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+0.194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375400" y="4470400"/>
            <a:ext cx="1333500" cy="5334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6451600" y="45339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-12.01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7708900" y="4470400"/>
            <a:ext cx="3302000" cy="5334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7785100" y="4533900"/>
            <a:ext cx="3149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综合最好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914400" y="5537200"/>
            <a:ext cx="2794000" cy="2965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6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科研规范点</a:t>
            </a:r>
            <a:endParaRPr lang="zh-CN" altLang="en-US" sz="16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965200" y="60833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1193800" y="5994400"/>
            <a:ext cx="9423400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先发现</a:t>
            </a:r>
            <a:r>
              <a:rPr lang="en-US" altLang="zh-CN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A/B/C </a:t>
            </a:r>
            <a:r>
              <a:rPr lang="zh-CN" altLang="en-US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与</a:t>
            </a:r>
            <a:r>
              <a:rPr lang="en-US" altLang="zh-CN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rear-only </a:t>
            </a:r>
            <a:r>
              <a:rPr lang="zh-CN" altLang="en-US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字节级相同，判断仿真未真正加载</a:t>
            </a:r>
            <a:r>
              <a:rPr lang="en-US" altLang="zh-CN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profile</a:t>
            </a:r>
            <a:r>
              <a:rPr lang="zh-CN" altLang="en-US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lang="zh-CN" altLang="en-US" sz="14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965200" y="65659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1193800" y="6477000"/>
            <a:ext cx="9423400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重跑后确认</a:t>
            </a:r>
            <a:r>
              <a:rPr lang="en-US" altLang="zh-CN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hash </a:t>
            </a:r>
            <a:r>
              <a:rPr lang="zh-CN" altLang="en-US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不同，再进入结果解释。</a:t>
            </a:r>
            <a:endParaRPr lang="zh-CN" altLang="en-US" sz="14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965200" y="70485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1193800" y="6959600"/>
            <a:ext cx="9423400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4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保留历史离线数据，支持回退和复现实验记录。</a:t>
            </a:r>
            <a:endParaRPr lang="zh-CN" altLang="en-US" sz="14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584200" y="8737600"/>
            <a:ext cx="6604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Road-3 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论文复现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| CarSim-Simulink-MATLAB | 2026-06</a:t>
            </a:r>
            <a:endParaRPr lang="en-US" altLang="zh-CN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1582400" y="8712200"/>
            <a:ext cx="304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07</a:t>
            </a:r>
            <a:endParaRPr lang="en-US" altLang="en-US" sz="8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84200" y="355600"/>
            <a:ext cx="2921000" cy="204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0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ENERGY GATE</a:t>
            </a:r>
            <a:endParaRPr lang="en-US" altLang="en-US" sz="10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4200" y="736600"/>
            <a:ext cx="7874000" cy="635"/>
          </a:xfrm>
          <a:prstGeom prst="line">
            <a:avLst/>
          </a:prstGeom>
          <a:ln w="12700">
            <a:solidFill>
              <a:srgbClr val="D2D6D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84200" y="889000"/>
            <a:ext cx="11049000" cy="8813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能量门控把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Q_C 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推向更稳的折中：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heave/pitch/rear travel 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改善，但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Az 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不再全胜</a:t>
            </a:r>
            <a:endParaRPr lang="zh-CN" altLang="en-US" sz="27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1600200"/>
            <a:ext cx="104140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这是主动悬架设计中的典型</a:t>
            </a:r>
            <a:r>
              <a:rPr lang="en-US" altLang="zh-CN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trade-off</a:t>
            </a:r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：舒适性、姿态、行程和限幅不能只靠单目标优化。</a:t>
            </a:r>
            <a:endParaRPr lang="zh-CN" altLang="en-US" sz="13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800" y="2413000"/>
            <a:ext cx="1524000" cy="5842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62000" y="2489200"/>
            <a:ext cx="13716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模式</a:t>
            </a:r>
            <a:endParaRPr lang="zh-CN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209800" y="2413000"/>
            <a:ext cx="1206500" cy="5842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286000" y="2489200"/>
            <a:ext cx="1054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Az event</a:t>
            </a:r>
            <a:endParaRPr lang="en-US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416300" y="2413000"/>
            <a:ext cx="1206500" cy="5842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492500" y="2489200"/>
            <a:ext cx="1054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Az 0-4</a:t>
            </a:r>
            <a:endParaRPr lang="en-US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622800" y="2413000"/>
            <a:ext cx="1333500" cy="5842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699000" y="2489200"/>
            <a:ext cx="1181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Heave gap</a:t>
            </a:r>
            <a:endParaRPr lang="en-US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56300" y="2413000"/>
            <a:ext cx="1206500" cy="5842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032500" y="2489200"/>
            <a:ext cx="1054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Pitch gap</a:t>
            </a:r>
            <a:endParaRPr lang="en-US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162800" y="2413000"/>
            <a:ext cx="1206500" cy="5842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239000" y="2489200"/>
            <a:ext cx="1054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Rear Jnc</a:t>
            </a:r>
            <a:endParaRPr lang="en-US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69300" y="2413000"/>
            <a:ext cx="3111500" cy="5842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445500" y="2489200"/>
            <a:ext cx="2959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结论</a:t>
            </a:r>
            <a:endParaRPr lang="zh-CN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85800" y="2997200"/>
            <a:ext cx="1524000" cy="584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62000" y="3060700"/>
            <a:ext cx="1371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Q_C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209800" y="2997200"/>
            <a:ext cx="1206500" cy="584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2286000" y="3060700"/>
            <a:ext cx="1054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-0.011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416300" y="2997200"/>
            <a:ext cx="1206500" cy="584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492500" y="3060700"/>
            <a:ext cx="1054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-0.042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622800" y="2997200"/>
            <a:ext cx="1333500" cy="584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699000" y="30607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+0.00038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956300" y="2997200"/>
            <a:ext cx="1206500" cy="584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032500" y="3060700"/>
            <a:ext cx="1054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+0.194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162800" y="2997200"/>
            <a:ext cx="1206500" cy="584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7239000" y="3060700"/>
            <a:ext cx="1054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-12.01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369300" y="2997200"/>
            <a:ext cx="3111500" cy="584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8445500" y="3060700"/>
            <a:ext cx="2959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Az </a:t>
            </a:r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好，姿态</a:t>
            </a:r>
            <a:r>
              <a:rPr lang="en-US" altLang="zh-CN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/</a:t>
            </a:r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行程差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85800" y="3581400"/>
            <a:ext cx="1524000" cy="5842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762000" y="3644900"/>
            <a:ext cx="1371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Q_C + UV_POS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209800" y="3581400"/>
            <a:ext cx="1206500" cy="5842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2286000" y="3644900"/>
            <a:ext cx="1054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+0.051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416300" y="3581400"/>
            <a:ext cx="1206500" cy="5842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3492500" y="3644900"/>
            <a:ext cx="1054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-0.030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622800" y="3581400"/>
            <a:ext cx="1333500" cy="5842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699000" y="36449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+0.00004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956300" y="3581400"/>
            <a:ext cx="1206500" cy="5842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6032500" y="3644900"/>
            <a:ext cx="1054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+0.119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162800" y="3581400"/>
            <a:ext cx="1206500" cy="5842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7239000" y="3644900"/>
            <a:ext cx="1054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-9.00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369300" y="3581400"/>
            <a:ext cx="3111500" cy="5842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8445500" y="3644900"/>
            <a:ext cx="2959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折中最好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85800" y="4165600"/>
            <a:ext cx="1524000" cy="584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762000" y="4229100"/>
            <a:ext cx="1371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Q_C + UV_NEG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2209800" y="4165600"/>
            <a:ext cx="1206500" cy="584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2286000" y="4229100"/>
            <a:ext cx="1054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+0.199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416300" y="4165600"/>
            <a:ext cx="1206500" cy="584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3492500" y="4229100"/>
            <a:ext cx="1054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+0.291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622800" y="4165600"/>
            <a:ext cx="1333500" cy="584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4699000" y="42291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+0.00652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956300" y="4165600"/>
            <a:ext cx="1206500" cy="584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6032500" y="4229100"/>
            <a:ext cx="1054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-0.086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7162800" y="4165600"/>
            <a:ext cx="1206500" cy="584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7239000" y="4229100"/>
            <a:ext cx="1054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-1.73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8369300" y="4165600"/>
            <a:ext cx="3111500" cy="584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8445500" y="4229100"/>
            <a:ext cx="2959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Az/heave </a:t>
            </a:r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明显差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914400" y="5461000"/>
            <a:ext cx="10033000" cy="1168400"/>
          </a:xfrm>
          <a:prstGeom prst="roundRect">
            <a:avLst/>
          </a:prstGeom>
          <a:solidFill>
            <a:srgbClr val="F9ECD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1219200" y="5791200"/>
            <a:ext cx="9398000" cy="6045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最终</a:t>
            </a:r>
            <a:r>
              <a:rPr lang="en-US" altLang="zh-CN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active-best </a:t>
            </a:r>
            <a:r>
              <a:rPr lang="zh-CN" altLang="en-US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冻结为</a:t>
            </a:r>
            <a:r>
              <a:rPr lang="en-US" altLang="zh-CN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Q_C + UV_POS</a:t>
            </a:r>
            <a:r>
              <a:rPr lang="zh-CN" altLang="en-US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，但我明确标注它是</a:t>
            </a:r>
            <a:r>
              <a:rPr lang="en-US" altLang="zh-CN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"</a:t>
            </a:r>
            <a:r>
              <a:rPr lang="zh-CN" altLang="en-US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折中最优</a:t>
            </a:r>
            <a:r>
              <a:rPr lang="en-US" altLang="zh-CN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"</a:t>
            </a:r>
            <a:r>
              <a:rPr lang="zh-CN" altLang="en-US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，不是</a:t>
            </a:r>
            <a:r>
              <a:rPr lang="en-US" altLang="zh-CN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"</a:t>
            </a:r>
            <a:r>
              <a:rPr lang="zh-CN" altLang="en-US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全指标优于被动</a:t>
            </a:r>
            <a:r>
              <a:rPr lang="en-US" altLang="zh-CN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"</a:t>
            </a:r>
            <a:r>
              <a:rPr lang="zh-CN" altLang="en-US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lang="zh-CN" altLang="en-US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219200" y="6261100"/>
            <a:ext cx="86360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这体现科研诚实：不把局部改善包装成全面胜利。</a:t>
            </a:r>
            <a:endParaRPr lang="zh-CN" altLang="en-US" sz="13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584200" y="8737600"/>
            <a:ext cx="6604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Road-3 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论文复现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| CarSim-Simulink-MATLAB | 2026-06</a:t>
            </a:r>
            <a:endParaRPr lang="en-US" altLang="zh-CN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1582400" y="8712200"/>
            <a:ext cx="304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08</a:t>
            </a:r>
            <a:endParaRPr lang="en-US" altLang="en-US" sz="8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84200" y="355600"/>
            <a:ext cx="2921000" cy="204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0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FULL CONDITION RESULT</a:t>
            </a:r>
            <a:endParaRPr lang="en-US" altLang="en-US" sz="10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4200" y="736600"/>
            <a:ext cx="7874000" cy="635"/>
          </a:xfrm>
          <a:prstGeom prst="line">
            <a:avLst/>
          </a:prstGeom>
          <a:ln w="12700">
            <a:solidFill>
              <a:srgbClr val="D2D6D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84200" y="889000"/>
            <a:ext cx="11049000" cy="8813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150 mm full 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工况下，主动没有大部分优于被动；两者都进入车辆模型极限区</a:t>
            </a:r>
            <a:endParaRPr lang="zh-CN" altLang="en-US" sz="27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1600200"/>
            <a:ext cx="104140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这是本次复现最重要的负结果：失败不是终点，而是模型边界识别。</a:t>
            </a:r>
            <a:endParaRPr lang="zh-CN" altLang="en-US" sz="13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7400" y="2209800"/>
            <a:ext cx="1905000" cy="4826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63600" y="2286000"/>
            <a:ext cx="17526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指标</a:t>
            </a:r>
            <a:endParaRPr lang="zh-CN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92400" y="2209800"/>
            <a:ext cx="1333500" cy="4826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768600" y="2286000"/>
            <a:ext cx="1181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Passive</a:t>
            </a:r>
            <a:endParaRPr lang="en-US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025900" y="2209800"/>
            <a:ext cx="1333500" cy="4826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102100" y="2286000"/>
            <a:ext cx="1181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Active</a:t>
            </a:r>
            <a:endParaRPr lang="en-US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59400" y="2209800"/>
            <a:ext cx="1333500" cy="4826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435600" y="2286000"/>
            <a:ext cx="1181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差值</a:t>
            </a:r>
            <a:endParaRPr lang="zh-CN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92900" y="2209800"/>
            <a:ext cx="1841500" cy="4826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769100" y="2286000"/>
            <a:ext cx="16891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判断</a:t>
            </a:r>
            <a:endParaRPr lang="zh-CN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87400" y="2692400"/>
            <a:ext cx="19050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63600" y="2755900"/>
            <a:ext cx="1752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Az event RMS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692400" y="2692400"/>
            <a:ext cx="13335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2768600" y="27559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3.397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025900" y="2692400"/>
            <a:ext cx="13335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102100" y="27559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3.433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359400" y="2692400"/>
            <a:ext cx="13335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435600" y="27559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+0.036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692900" y="2692400"/>
            <a:ext cx="18415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769100" y="2755900"/>
            <a:ext cx="1689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Active</a:t>
            </a:r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略差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87400" y="3175000"/>
            <a:ext cx="19050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63600" y="3238500"/>
            <a:ext cx="1752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Az 0-4 RMS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692400" y="3175000"/>
            <a:ext cx="13335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2768600" y="32385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2.154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025900" y="3175000"/>
            <a:ext cx="13335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4102100" y="32385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2.219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359400" y="3175000"/>
            <a:ext cx="13335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5435600" y="32385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+0.065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692900" y="3175000"/>
            <a:ext cx="18415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6769100" y="3238500"/>
            <a:ext cx="1689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Active</a:t>
            </a:r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略差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87400" y="3657600"/>
            <a:ext cx="19050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863600" y="3721100"/>
            <a:ext cx="1752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Az 0-15 RMS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692400" y="3657600"/>
            <a:ext cx="13335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2768600" y="37211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3.124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025900" y="3657600"/>
            <a:ext cx="13335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102100" y="37211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3.149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359400" y="3657600"/>
            <a:ext cx="13335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435600" y="37211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+0.025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692900" y="3657600"/>
            <a:ext cx="18415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6769100" y="3721100"/>
            <a:ext cx="1689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Active</a:t>
            </a:r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略差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87400" y="4140200"/>
            <a:ext cx="19050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863600" y="4203700"/>
            <a:ext cx="1752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AA_P 0-15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2692400" y="4140200"/>
            <a:ext cx="13335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2768600" y="42037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2.920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025900" y="4140200"/>
            <a:ext cx="13335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4102100" y="42037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2.958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359400" y="4140200"/>
            <a:ext cx="13335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5435600" y="42037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+0.038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692900" y="4140200"/>
            <a:ext cx="18415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6769100" y="4203700"/>
            <a:ext cx="1689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Active</a:t>
            </a:r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略差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87400" y="4622800"/>
            <a:ext cx="19050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863600" y="4686300"/>
            <a:ext cx="1752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heave peak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692400" y="4622800"/>
            <a:ext cx="13335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2768600" y="46863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0.126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025900" y="4622800"/>
            <a:ext cx="13335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4102100" y="46863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0.128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359400" y="4622800"/>
            <a:ext cx="13335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5435600" y="46863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+0.002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692900" y="4622800"/>
            <a:ext cx="1841500" cy="48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6769100" y="4686300"/>
            <a:ext cx="1689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Active</a:t>
            </a:r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略差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787400" y="5105400"/>
            <a:ext cx="19050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863600" y="5168900"/>
            <a:ext cx="1752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pitch peak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692400" y="5105400"/>
            <a:ext cx="13335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2768600" y="51689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5.207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4025900" y="5105400"/>
            <a:ext cx="13335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4102100" y="51689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5.279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359400" y="5105400"/>
            <a:ext cx="13335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5435600" y="5168900"/>
            <a:ext cx="1181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+0.072</a:t>
            </a:r>
            <a:endParaRPr lang="en-US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692900" y="5105400"/>
            <a:ext cx="1841500" cy="4826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6769100" y="5168900"/>
            <a:ext cx="16891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Active</a:t>
            </a:r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略差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8940800" y="2362200"/>
            <a:ext cx="2413000" cy="3327400"/>
          </a:xfrm>
          <a:prstGeom prst="roundRect">
            <a:avLst/>
          </a:prstGeom>
          <a:solidFill>
            <a:srgbClr val="F8E1E0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9194800" y="2641600"/>
            <a:ext cx="2032000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500" b="1">
                <a:solidFill>
                  <a:srgbClr val="B44641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不能下的结论</a:t>
            </a:r>
            <a:endParaRPr lang="zh-CN" altLang="en-US" sz="1500" b="1">
              <a:solidFill>
                <a:srgbClr val="B4464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8" name="椭圆 77"/>
          <p:cNvSpPr/>
          <p:nvPr/>
        </p:nvSpPr>
        <p:spPr>
          <a:xfrm>
            <a:off x="9194800" y="32385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文本框 78"/>
          <p:cNvSpPr txBox="1"/>
          <p:nvPr/>
        </p:nvSpPr>
        <p:spPr>
          <a:xfrm>
            <a:off x="9423400" y="3149600"/>
            <a:ext cx="1612900" cy="3892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1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不能宣称</a:t>
            </a:r>
            <a:r>
              <a:rPr lang="en-US" altLang="zh-CN" sz="11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full </a:t>
            </a:r>
            <a:r>
              <a:rPr lang="zh-CN" altLang="en-US" sz="11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工况主动优于被动。</a:t>
            </a:r>
            <a:endParaRPr lang="zh-CN" altLang="en-US" sz="11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0" name="椭圆 79"/>
          <p:cNvSpPr/>
          <p:nvPr/>
        </p:nvSpPr>
        <p:spPr>
          <a:xfrm>
            <a:off x="9194800" y="37719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9423400" y="3683000"/>
            <a:ext cx="1612900" cy="3892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1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不能继续只靠</a:t>
            </a:r>
            <a:r>
              <a:rPr lang="en-US" altLang="zh-CN" sz="11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MPC </a:t>
            </a:r>
            <a:r>
              <a:rPr lang="zh-CN" altLang="en-US" sz="11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参数硬调。</a:t>
            </a:r>
            <a:endParaRPr lang="zh-CN" altLang="en-US" sz="11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2" name="椭圆 81"/>
          <p:cNvSpPr/>
          <p:nvPr/>
        </p:nvSpPr>
        <p:spPr>
          <a:xfrm>
            <a:off x="9194800" y="43053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文本框 82"/>
          <p:cNvSpPr txBox="1"/>
          <p:nvPr/>
        </p:nvSpPr>
        <p:spPr>
          <a:xfrm>
            <a:off x="9423400" y="4216400"/>
            <a:ext cx="1612900" cy="3892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1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不能忽略车辆模型行程约束。</a:t>
            </a:r>
            <a:endParaRPr lang="zh-CN" altLang="en-US" sz="11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84200" y="8737600"/>
            <a:ext cx="6604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Road-3 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论文复现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| CarSim-Simulink-MATLAB | 2026-06</a:t>
            </a:r>
            <a:endParaRPr lang="en-US" altLang="zh-CN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1582400" y="8712200"/>
            <a:ext cx="304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09</a:t>
            </a:r>
            <a:endParaRPr lang="en-US" altLang="en-US" sz="8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84200" y="355600"/>
            <a:ext cx="2921000" cy="204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0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MODEL BOUNDARY</a:t>
            </a:r>
            <a:endParaRPr lang="en-US" altLang="en-US" sz="10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4200" y="736600"/>
            <a:ext cx="7874000" cy="635"/>
          </a:xfrm>
          <a:prstGeom prst="line">
            <a:avLst/>
          </a:prstGeom>
          <a:ln w="12700">
            <a:solidFill>
              <a:srgbClr val="D2D6D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84200" y="889000"/>
            <a:ext cx="11049000" cy="466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150 mm 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不是单纯控制问题，而是前悬止块与轮胎离地共同主导</a:t>
            </a:r>
            <a:endParaRPr lang="zh-CN" altLang="en-US" sz="27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1600200"/>
            <a:ext cx="104140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Passive </a:t>
            </a:r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也离地，说明物理基线本身已经进入强非线性。</a:t>
            </a:r>
            <a:endParaRPr lang="zh-CN" altLang="en-US" sz="13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12800" y="2349500"/>
            <a:ext cx="2286000" cy="1092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2476500"/>
            <a:ext cx="19558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2400" b="1">
                <a:solidFill>
                  <a:srgbClr val="B44641"/>
                </a:solidFill>
                <a:latin typeface="Microsoft YaHei UI" panose="020B0503020204020204" charset="-122"/>
                <a:ea typeface="Microsoft YaHei UI" panose="020B0503020204020204" charset="-122"/>
              </a:rPr>
              <a:t>0 N</a:t>
            </a:r>
            <a:endParaRPr lang="en-US" altLang="en-US" sz="2400" b="1">
              <a:solidFill>
                <a:srgbClr val="B4464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90600" y="2882900"/>
            <a:ext cx="19558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Fz </a:t>
            </a:r>
            <a:r>
              <a:rPr lang="zh-CN" altLang="en-US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最小值</a:t>
            </a:r>
            <a:endParaRPr lang="zh-CN" altLang="en-US" sz="11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0600" y="3124200"/>
            <a:ext cx="1955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Passive 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与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Active 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均达到</a:t>
            </a:r>
            <a:endParaRPr lang="zh-CN" altLang="en-US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429000" y="2349500"/>
            <a:ext cx="2413000" cy="1092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606800" y="2476500"/>
            <a:ext cx="20828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2400" b="1">
                <a:solidFill>
                  <a:srgbClr val="B44641"/>
                </a:solidFill>
                <a:latin typeface="Microsoft YaHei UI" panose="020B0503020204020204" charset="-122"/>
                <a:ea typeface="Microsoft YaHei UI" panose="020B0503020204020204" charset="-122"/>
              </a:rPr>
              <a:t>7.44%</a:t>
            </a:r>
            <a:endParaRPr lang="en-US" altLang="en-US" sz="2400" b="1">
              <a:solidFill>
                <a:srgbClr val="B4464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06800" y="2882900"/>
            <a:ext cx="20828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Fz &lt;= 0 N</a:t>
            </a:r>
            <a:endParaRPr lang="en-US" altLang="en-US" sz="11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606800" y="3124200"/>
            <a:ext cx="2082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两组均出现离地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/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卸载</a:t>
            </a:r>
            <a:endParaRPr lang="zh-CN" altLang="en-US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172200" y="2349500"/>
            <a:ext cx="2603500" cy="1092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350000" y="2476500"/>
            <a:ext cx="22733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2400" b="1">
                <a:solidFill>
                  <a:srgbClr val="C67D26"/>
                </a:solidFill>
                <a:latin typeface="Microsoft YaHei UI" panose="020B0503020204020204" charset="-122"/>
                <a:ea typeface="Microsoft YaHei UI" panose="020B0503020204020204" charset="-122"/>
              </a:rPr>
              <a:t>43-45 kN</a:t>
            </a:r>
            <a:endParaRPr lang="en-US" altLang="en-US" sz="2400" b="1">
              <a:solidFill>
                <a:srgbClr val="C67D26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350000" y="2882900"/>
            <a:ext cx="22733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前悬</a:t>
            </a:r>
            <a:r>
              <a:rPr lang="en-US" altLang="zh-CN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jounce stop</a:t>
            </a:r>
            <a:endParaRPr lang="en-US" altLang="zh-CN" sz="11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50000" y="3124200"/>
            <a:ext cx="22733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几十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kN 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硬冲击</a:t>
            </a:r>
            <a:endParaRPr lang="zh-CN" altLang="en-US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9093200" y="2349500"/>
            <a:ext cx="2286000" cy="1092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9271000" y="2476500"/>
            <a:ext cx="1955800" cy="789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2400" b="1">
                <a:solidFill>
                  <a:srgbClr val="C67D26"/>
                </a:solidFill>
                <a:latin typeface="Microsoft YaHei UI" panose="020B0503020204020204" charset="-122"/>
                <a:ea typeface="Microsoft YaHei UI" panose="020B0503020204020204" charset="-122"/>
              </a:rPr>
              <a:t>+70/-50 mm</a:t>
            </a:r>
            <a:endParaRPr lang="en-US" altLang="en-US" sz="2400" b="1">
              <a:solidFill>
                <a:srgbClr val="C67D26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271000" y="2882900"/>
            <a:ext cx="19558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1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前悬行程限</a:t>
            </a:r>
            <a:endParaRPr lang="zh-CN" altLang="en-US" sz="11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271000" y="3124200"/>
            <a:ext cx="1955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截图参数对应极短回弹行程</a:t>
            </a:r>
            <a:endParaRPr lang="zh-CN" altLang="en-US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65200" y="4267200"/>
            <a:ext cx="2794000" cy="311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分角点诊断</a:t>
            </a:r>
            <a:endParaRPr lang="zh-CN" altLang="en-US" sz="17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1016000" y="48387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244600" y="4749800"/>
            <a:ext cx="9423400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5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前悬</a:t>
            </a:r>
            <a:r>
              <a:rPr lang="en-US" altLang="zh-CN" sz="15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FJSt/FRSt </a:t>
            </a:r>
            <a:r>
              <a:rPr lang="zh-CN" altLang="en-US" sz="15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达几十</a:t>
            </a:r>
            <a:r>
              <a:rPr lang="en-US" altLang="zh-CN" sz="15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kN</a:t>
            </a:r>
            <a:r>
              <a:rPr lang="zh-CN" altLang="en-US" sz="15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；后悬止块力仍为</a:t>
            </a:r>
            <a:r>
              <a:rPr lang="en-US" altLang="zh-CN" sz="15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0</a:t>
            </a:r>
            <a:r>
              <a:rPr lang="zh-CN" altLang="en-US" sz="15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lang="zh-CN" altLang="en-US" sz="15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016000" y="53721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244600" y="5283200"/>
            <a:ext cx="9423400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5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Active </a:t>
            </a:r>
            <a:r>
              <a:rPr lang="zh-CN" altLang="en-US" sz="15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使前悬止块力和后悬回弹位移略恶化。</a:t>
            </a:r>
            <a:endParaRPr lang="zh-CN" altLang="en-US" sz="15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1016000" y="5905500"/>
            <a:ext cx="76200" cy="762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244600" y="5816600"/>
            <a:ext cx="9423400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5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150 mm full </a:t>
            </a:r>
            <a:r>
              <a:rPr lang="zh-CN" altLang="en-US" sz="15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应先调整车辆</a:t>
            </a:r>
            <a:r>
              <a:rPr lang="en-US" altLang="zh-CN" sz="15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/</a:t>
            </a:r>
            <a:r>
              <a:rPr lang="zh-CN" altLang="en-US" sz="15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悬架</a:t>
            </a:r>
            <a:r>
              <a:rPr lang="en-US" altLang="zh-CN" sz="15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stop </a:t>
            </a:r>
            <a:r>
              <a:rPr lang="zh-CN" altLang="en-US" sz="15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数据集，再谈控制效果。</a:t>
            </a:r>
            <a:endParaRPr lang="zh-CN" altLang="en-US" sz="15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84200" y="8737600"/>
            <a:ext cx="6604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Road-3 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论文复现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| CarSim-Simulink-MATLAB | 2026-06</a:t>
            </a:r>
            <a:endParaRPr lang="en-US" altLang="zh-CN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582400" y="8712200"/>
            <a:ext cx="304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10</a:t>
            </a:r>
            <a:endParaRPr lang="en-US" altLang="en-US" sz="8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84200" y="355600"/>
            <a:ext cx="2921000" cy="204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0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WHAT THIS SHOWS</a:t>
            </a:r>
            <a:endParaRPr lang="en-US" altLang="en-US" sz="10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4200" y="736600"/>
            <a:ext cx="7874000" cy="635"/>
          </a:xfrm>
          <a:prstGeom prst="line">
            <a:avLst/>
          </a:prstGeom>
          <a:ln w="12700">
            <a:solidFill>
              <a:srgbClr val="D2D6D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84200" y="889000"/>
            <a:ext cx="11049000" cy="8813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这次复现能力的核心证据：我能把失败变成可解释、可复查、可推进的问题</a:t>
            </a:r>
            <a:endParaRPr lang="zh-CN" altLang="en-US" sz="27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1600200"/>
            <a:ext cx="104140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面向导师，不只汇报结果，也要汇报科研训练中的方法论。</a:t>
            </a:r>
            <a:endParaRPr lang="zh-CN" altLang="en-US" sz="13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87400" y="2260600"/>
            <a:ext cx="3175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939800" y="2451100"/>
            <a:ext cx="381000" cy="381000"/>
          </a:xfrm>
          <a:prstGeom prst="ellipse">
            <a:avLst/>
          </a:prstGeom>
          <a:solidFill>
            <a:srgbClr val="2860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16000" y="2514600"/>
            <a:ext cx="2286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A</a:t>
            </a:r>
            <a:endParaRPr lang="en-US" altLang="en-US" sz="11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47800" y="2413000"/>
            <a:ext cx="23622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复现能力</a:t>
            </a:r>
            <a:endParaRPr lang="zh-CN" altLang="en-US" sz="13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47800" y="2705100"/>
            <a:ext cx="2362200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把论文工况拆成路面、速度、输出、验收指标和事件窗口。</a:t>
            </a:r>
            <a:endParaRPr lang="zh-CN" altLang="en-US" sz="10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508500" y="2260600"/>
            <a:ext cx="3175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4660900" y="2451100"/>
            <a:ext cx="381000" cy="381000"/>
          </a:xfrm>
          <a:prstGeom prst="ellipse">
            <a:avLst/>
          </a:prstGeom>
          <a:solidFill>
            <a:srgbClr val="29825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737100" y="2514600"/>
            <a:ext cx="2286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B</a:t>
            </a:r>
            <a:endParaRPr lang="en-US" altLang="en-US" sz="11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68900" y="2413000"/>
            <a:ext cx="23622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工程思维</a:t>
            </a:r>
            <a:endParaRPr lang="zh-CN" altLang="en-US" sz="13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168900" y="2705100"/>
            <a:ext cx="2362200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用日志、脚本、</a:t>
            </a:r>
            <a:r>
              <a:rPr lang="en-US" altLang="zh-CN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hash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、可回退离线数据维护实验可追溯性。</a:t>
            </a:r>
            <a:endParaRPr lang="zh-CN" altLang="en-US" sz="10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229600" y="2260600"/>
            <a:ext cx="3175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8382000" y="2451100"/>
            <a:ext cx="381000" cy="381000"/>
          </a:xfrm>
          <a:prstGeom prst="ellipse">
            <a:avLst/>
          </a:prstGeom>
          <a:solidFill>
            <a:srgbClr val="C67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458200" y="2514600"/>
            <a:ext cx="2286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C</a:t>
            </a:r>
            <a:endParaRPr lang="en-US" altLang="en-US" sz="11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890000" y="2413000"/>
            <a:ext cx="23622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科研判断</a:t>
            </a:r>
            <a:endParaRPr lang="zh-CN" altLang="en-US" sz="13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890000" y="2705100"/>
            <a:ext cx="2362200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不执着于调参胜利，而是识别车辆模型与控制器假设的边界。</a:t>
            </a:r>
            <a:endParaRPr lang="zh-CN" altLang="en-US" sz="10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1117600" y="4419600"/>
            <a:ext cx="9652000" cy="157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422400" y="4749800"/>
            <a:ext cx="9017000" cy="311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我认为这次最有价值的不是某个指标是否超过</a:t>
            </a:r>
            <a:r>
              <a:rPr lang="en-US" altLang="zh-CN" sz="1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Passive</a:t>
            </a:r>
            <a:r>
              <a:rPr lang="zh-CN" altLang="en-US" sz="1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，而是形成了一个研究闭环：</a:t>
            </a:r>
            <a:endParaRPr lang="zh-CN" altLang="en-US" sz="17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422400" y="5334000"/>
            <a:ext cx="9017000" cy="6045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b="1">
                <a:solidFill>
                  <a:srgbClr val="2860A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复现实验</a:t>
            </a:r>
            <a:r>
              <a:rPr lang="en-US" altLang="zh-CN" b="1">
                <a:solidFill>
                  <a:srgbClr val="2860A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-&gt; </a:t>
            </a:r>
            <a:r>
              <a:rPr lang="zh-CN" altLang="en-US" b="1">
                <a:solidFill>
                  <a:srgbClr val="2860A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暴露异常</a:t>
            </a:r>
            <a:r>
              <a:rPr lang="en-US" altLang="zh-CN" b="1">
                <a:solidFill>
                  <a:srgbClr val="2860A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-&gt; </a:t>
            </a:r>
            <a:r>
              <a:rPr lang="zh-CN" altLang="en-US" b="1">
                <a:solidFill>
                  <a:srgbClr val="2860A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增强可观测性</a:t>
            </a:r>
            <a:r>
              <a:rPr lang="en-US" altLang="zh-CN" b="1">
                <a:solidFill>
                  <a:srgbClr val="2860A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-&gt; </a:t>
            </a:r>
            <a:r>
              <a:rPr lang="zh-CN" altLang="en-US" b="1">
                <a:solidFill>
                  <a:srgbClr val="2860A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控制变量定位</a:t>
            </a:r>
            <a:r>
              <a:rPr lang="en-US" altLang="zh-CN" b="1">
                <a:solidFill>
                  <a:srgbClr val="2860A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-&gt; </a:t>
            </a:r>
            <a:r>
              <a:rPr lang="zh-CN" altLang="en-US" b="1">
                <a:solidFill>
                  <a:srgbClr val="2860A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明确停止条件</a:t>
            </a:r>
            <a:r>
              <a:rPr lang="en-US" altLang="zh-CN" b="1">
                <a:solidFill>
                  <a:srgbClr val="2860A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-&gt; </a:t>
            </a:r>
            <a:r>
              <a:rPr lang="zh-CN" altLang="en-US" b="1">
                <a:solidFill>
                  <a:srgbClr val="2860A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提出下一阶段模型修正。</a:t>
            </a:r>
            <a:endParaRPr lang="zh-CN" altLang="en-US" b="1">
              <a:solidFill>
                <a:srgbClr val="2860A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84200" y="8737600"/>
            <a:ext cx="6604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Road-3 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论文复现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| CarSim-Simulink-MATLAB | 2026-06</a:t>
            </a:r>
            <a:endParaRPr lang="en-US" altLang="zh-CN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582400" y="8712200"/>
            <a:ext cx="304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11</a:t>
            </a:r>
            <a:endParaRPr lang="en-US" altLang="en-US" sz="8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84200" y="355600"/>
            <a:ext cx="2921000" cy="204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0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REFLECTION</a:t>
            </a:r>
            <a:endParaRPr lang="en-US" altLang="en-US" sz="10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4200" y="736600"/>
            <a:ext cx="7874000" cy="635"/>
          </a:xfrm>
          <a:prstGeom prst="line">
            <a:avLst/>
          </a:prstGeom>
          <a:ln w="12700">
            <a:solidFill>
              <a:srgbClr val="D2D6D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84200" y="889000"/>
            <a:ext cx="11049000" cy="466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反思：主动悬架复现不能只复现控制器，还要复现车辆模型的适用域</a:t>
            </a:r>
            <a:endParaRPr lang="zh-CN" altLang="en-US" sz="27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1600200"/>
            <a:ext cx="104140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研</a:t>
            </a:r>
            <a:r>
              <a:rPr lang="en-US" altLang="zh-CN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</a:t>
            </a:r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阶段我还需要提升论文细节追踪、模型假设验证和实验设计的前置性。</a:t>
            </a:r>
            <a:endParaRPr lang="zh-CN" altLang="en-US" sz="13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7400" y="2413000"/>
            <a:ext cx="1778000" cy="7112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63600" y="2489200"/>
            <a:ext cx="16256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维度</a:t>
            </a:r>
            <a:endParaRPr lang="zh-CN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65400" y="2413000"/>
            <a:ext cx="6350000" cy="7112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641600" y="2489200"/>
            <a:ext cx="61976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内容</a:t>
            </a:r>
            <a:endParaRPr lang="zh-CN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915400" y="2413000"/>
            <a:ext cx="2489200" cy="711200"/>
          </a:xfrm>
          <a:prstGeom prst="rect">
            <a:avLst/>
          </a:prstGeom>
          <a:solidFill>
            <a:srgbClr val="2A303A"/>
          </a:solidFill>
          <a:ln w="10160">
            <a:solidFill>
              <a:srgbClr val="2A303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991600" y="2489200"/>
            <a:ext cx="23368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能力指向</a:t>
            </a:r>
            <a:endParaRPr lang="zh-CN" altLang="en-US" sz="9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7400" y="3124200"/>
            <a:ext cx="1778000" cy="7112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63600" y="3187700"/>
            <a:ext cx="1625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做对的事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565400" y="3124200"/>
            <a:ext cx="6350000" cy="7112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641600" y="3187700"/>
            <a:ext cx="6197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道路加密采样、输出诊断变量、模式隔离、</a:t>
            </a:r>
            <a:r>
              <a:rPr lang="en-US" altLang="zh-CN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hash</a:t>
            </a:r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有效性检查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915400" y="3124200"/>
            <a:ext cx="2489200" cy="7112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991600" y="3187700"/>
            <a:ext cx="2336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保证结果可复查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87400" y="3835400"/>
            <a:ext cx="1778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63600" y="3898900"/>
            <a:ext cx="1625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踩到的问题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565400" y="3835400"/>
            <a:ext cx="6350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641600" y="3898900"/>
            <a:ext cx="6197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T1 pilot </a:t>
            </a:r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初次速度不符；</a:t>
            </a:r>
            <a:r>
              <a:rPr lang="en-US" altLang="zh-CN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T2 full </a:t>
            </a:r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才发现车辆行程边界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915400" y="3835400"/>
            <a:ext cx="24892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8991600" y="3898900"/>
            <a:ext cx="2336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前置验收还可更早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87400" y="4546600"/>
            <a:ext cx="1778000" cy="7112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63600" y="4610100"/>
            <a:ext cx="1625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最重要反思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565400" y="4546600"/>
            <a:ext cx="6350000" cy="7112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2641600" y="4610100"/>
            <a:ext cx="6197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论文工况参数不等于本车模型一定可物理复现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915400" y="4546600"/>
            <a:ext cx="2489200" cy="711200"/>
          </a:xfrm>
          <a:prstGeom prst="rect">
            <a:avLst/>
          </a:prstGeom>
          <a:solidFill>
            <a:srgbClr val="FCFCFA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991600" y="4610100"/>
            <a:ext cx="2336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要先确认适用域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87400" y="5257800"/>
            <a:ext cx="1778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863600" y="5321300"/>
            <a:ext cx="1625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下一步能力建设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565400" y="5257800"/>
            <a:ext cx="6350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2641600" y="5321300"/>
            <a:ext cx="61976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补充车辆参数辨识、止块非线性建模、实验矩阵设计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915400" y="5257800"/>
            <a:ext cx="24892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8991600" y="5321300"/>
            <a:ext cx="2336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800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从复现走向改进</a:t>
            </a:r>
            <a:endParaRPr lang="zh-CN" altLang="en-US" sz="800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84200" y="8737600"/>
            <a:ext cx="6604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Road-3 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论文复现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| CarSim-Simulink-MATLAB | 2026-06</a:t>
            </a:r>
            <a:endParaRPr lang="en-US" altLang="zh-CN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1582400" y="8712200"/>
            <a:ext cx="304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12</a:t>
            </a:r>
            <a:endParaRPr lang="en-US" altLang="en-US" sz="8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84200" y="355600"/>
            <a:ext cx="2921000" cy="204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0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NEXT PLAN</a:t>
            </a:r>
            <a:endParaRPr lang="en-US" altLang="en-US" sz="10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4200" y="736600"/>
            <a:ext cx="7874000" cy="635"/>
          </a:xfrm>
          <a:prstGeom prst="line">
            <a:avLst/>
          </a:prstGeom>
          <a:ln w="12700">
            <a:solidFill>
              <a:srgbClr val="D2D6D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84200" y="889000"/>
            <a:ext cx="11049000" cy="8813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下一阶段：保留基线车辆，另建</a:t>
            </a:r>
            <a:r>
              <a:rPr lang="en-US" altLang="zh-CN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long-travel </a:t>
            </a:r>
            <a:r>
              <a:rPr lang="zh-CN" altLang="en-US" sz="27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车辆版本，再重跑全套对照</a:t>
            </a:r>
            <a:endParaRPr lang="zh-CN" altLang="en-US" sz="27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1600200"/>
            <a:ext cx="104140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这能避免污染原始复现基线，同时验证</a:t>
            </a:r>
            <a:r>
              <a:rPr lang="en-US" altLang="zh-CN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150 mm </a:t>
            </a:r>
            <a:r>
              <a:rPr lang="zh-CN" altLang="en-US" sz="13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工况是否需要模型层修正。</a:t>
            </a:r>
            <a:endParaRPr lang="zh-CN" altLang="en-US" sz="13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89000" y="2260600"/>
            <a:ext cx="3175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041400" y="2451100"/>
            <a:ext cx="381000" cy="381000"/>
          </a:xfrm>
          <a:prstGeom prst="ellipse">
            <a:avLst/>
          </a:prstGeom>
          <a:solidFill>
            <a:srgbClr val="2860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17600" y="2514600"/>
            <a:ext cx="2286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1</a:t>
            </a:r>
            <a:endParaRPr lang="en-US" altLang="en-US" sz="11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49400" y="2413000"/>
            <a:ext cx="23622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冻结当前复现基线</a:t>
            </a:r>
            <a:endParaRPr lang="zh-CN" altLang="en-US" sz="13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49400" y="2705100"/>
            <a:ext cx="2362200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保留</a:t>
            </a:r>
            <a:r>
              <a:rPr lang="en-US" altLang="zh-CN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Road3_baseline_vehicle 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与所有</a:t>
            </a:r>
            <a:r>
              <a:rPr lang="en-US" altLang="zh-CN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CSV/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脚本</a:t>
            </a:r>
            <a:r>
              <a:rPr lang="en-US" altLang="zh-CN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/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日志。</a:t>
            </a:r>
            <a:endParaRPr lang="zh-CN" altLang="en-US" sz="10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508500" y="2260600"/>
            <a:ext cx="3175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4660900" y="2451100"/>
            <a:ext cx="381000" cy="381000"/>
          </a:xfrm>
          <a:prstGeom prst="ellipse">
            <a:avLst/>
          </a:prstGeom>
          <a:solidFill>
            <a:srgbClr val="C67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737100" y="2514600"/>
            <a:ext cx="2286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2</a:t>
            </a:r>
            <a:endParaRPr lang="en-US" altLang="en-US" sz="11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68900" y="2413000"/>
            <a:ext cx="23622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复制悬架</a:t>
            </a:r>
            <a:r>
              <a:rPr lang="en-US" altLang="zh-CN" sz="13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stop </a:t>
            </a:r>
            <a:r>
              <a:rPr lang="zh-CN" altLang="en-US" sz="13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数据集</a:t>
            </a:r>
            <a:endParaRPr lang="zh-CN" altLang="en-US" sz="13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168900" y="2705100"/>
            <a:ext cx="2362200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建立</a:t>
            </a:r>
            <a:r>
              <a:rPr lang="en-US" altLang="zh-CN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ASCII 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命名</a:t>
            </a:r>
            <a:r>
              <a:rPr lang="en-US" altLang="zh-CN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Road3_paper_longtravel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，不覆盖原车。</a:t>
            </a:r>
            <a:endParaRPr lang="zh-CN" altLang="en-US" sz="10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128000" y="2260600"/>
            <a:ext cx="3175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8280400" y="2451100"/>
            <a:ext cx="381000" cy="381000"/>
          </a:xfrm>
          <a:prstGeom prst="ellipse">
            <a:avLst/>
          </a:prstGeom>
          <a:solidFill>
            <a:srgbClr val="29825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356600" y="2514600"/>
            <a:ext cx="2286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3</a:t>
            </a:r>
            <a:endParaRPr lang="en-US" altLang="en-US" sz="11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788400" y="2413000"/>
            <a:ext cx="23622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重跑对照实验</a:t>
            </a:r>
            <a:endParaRPr lang="zh-CN" altLang="en-US" sz="13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788400" y="2705100"/>
            <a:ext cx="2362200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T2 full Passive / no-preview / preview 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全部重跑，旧结果不混用。</a:t>
            </a:r>
            <a:endParaRPr lang="zh-CN" altLang="en-US" sz="10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889000" y="4064000"/>
            <a:ext cx="3175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1041400" y="4254500"/>
            <a:ext cx="381000" cy="381000"/>
          </a:xfrm>
          <a:prstGeom prst="ellipse">
            <a:avLst/>
          </a:prstGeom>
          <a:solidFill>
            <a:srgbClr val="1E8E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117600" y="4318000"/>
            <a:ext cx="2286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4</a:t>
            </a:r>
            <a:endParaRPr lang="en-US" altLang="en-US" sz="11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549400" y="4216400"/>
            <a:ext cx="23622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判断控制价值</a:t>
            </a:r>
            <a:endParaRPr lang="zh-CN" altLang="en-US" sz="13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49400" y="4508500"/>
            <a:ext cx="2362200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若离地比例和止块力下降，再讨论</a:t>
            </a:r>
            <a:r>
              <a:rPr lang="en-US" altLang="zh-CN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active 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是否真正优于</a:t>
            </a:r>
            <a:r>
              <a:rPr lang="en-US" altLang="zh-CN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passive</a:t>
            </a:r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lang="zh-CN" altLang="en-US" sz="10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4508500" y="4064000"/>
            <a:ext cx="3175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4660900" y="4254500"/>
            <a:ext cx="381000" cy="381000"/>
          </a:xfrm>
          <a:prstGeom prst="ellipse">
            <a:avLst/>
          </a:prstGeom>
          <a:solidFill>
            <a:srgbClr val="29825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4737100" y="4318000"/>
            <a:ext cx="2286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5</a:t>
            </a:r>
            <a:endParaRPr lang="en-US" altLang="en-US" sz="11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168900" y="4216400"/>
            <a:ext cx="23622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写入论文式报告</a:t>
            </a:r>
            <a:endParaRPr lang="zh-CN" altLang="en-US" sz="13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168900" y="4508500"/>
            <a:ext cx="2362200" cy="204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报告同时呈现正结果、负结果和模型边界。</a:t>
            </a:r>
            <a:endParaRPr lang="zh-CN" altLang="en-US" sz="10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8128000" y="4064000"/>
            <a:ext cx="3175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6D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8280400" y="4254500"/>
            <a:ext cx="381000" cy="381000"/>
          </a:xfrm>
          <a:prstGeom prst="ellipse">
            <a:avLst/>
          </a:prstGeom>
          <a:solidFill>
            <a:srgbClr val="2860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8356600" y="4318000"/>
            <a:ext cx="22860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11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6</a:t>
            </a:r>
            <a:endParaRPr lang="en-US" altLang="en-US" sz="11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788400" y="4216400"/>
            <a:ext cx="23622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300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</a:rPr>
              <a:t>形成博士阶段问题</a:t>
            </a:r>
            <a:endParaRPr lang="zh-CN" altLang="en-US" sz="1300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788400" y="4508500"/>
            <a:ext cx="2362200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sz="10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把复现扩展到模型适用域、非线性约束和鲁棒控制。</a:t>
            </a:r>
            <a:endParaRPr lang="zh-CN" altLang="en-US" sz="10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168400" y="7518400"/>
            <a:ext cx="9652000" cy="3276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zh-CN" altLang="en-US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结束语：我希望把这次复现作为科研训练起点，从</a:t>
            </a:r>
            <a:r>
              <a:rPr lang="en-US" altLang="zh-CN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"</a:t>
            </a:r>
            <a:r>
              <a:rPr lang="zh-CN" altLang="en-US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能跑通</a:t>
            </a:r>
            <a:r>
              <a:rPr lang="en-US" altLang="zh-CN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"</a:t>
            </a:r>
            <a:r>
              <a:rPr lang="zh-CN" altLang="en-US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推进到</a:t>
            </a:r>
            <a:r>
              <a:rPr lang="en-US" altLang="zh-CN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"</a:t>
            </a:r>
            <a:r>
              <a:rPr lang="zh-CN" altLang="en-US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能解释、能质疑、能改进</a:t>
            </a:r>
            <a:r>
              <a:rPr lang="en-US" altLang="zh-CN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"</a:t>
            </a:r>
            <a:r>
              <a:rPr lang="zh-CN" altLang="en-US" b="1">
                <a:solidFill>
                  <a:srgbClr val="161C2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lang="zh-CN" altLang="en-US" b="1">
              <a:solidFill>
                <a:srgbClr val="161C2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84200" y="8737600"/>
            <a:ext cx="66040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Road-3 </a:t>
            </a:r>
            <a:r>
              <a:rPr lang="zh-CN" altLang="en-US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论文复现</a:t>
            </a:r>
            <a:r>
              <a:rPr lang="en-US" altLang="zh-CN" sz="800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| CarSim-Simulink-MATLAB | 2026-06</a:t>
            </a:r>
            <a:endParaRPr lang="en-US" altLang="zh-CN" sz="800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1582400" y="8712200"/>
            <a:ext cx="304800" cy="17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r>
              <a:rPr lang="en-US" altLang="en-US" sz="800" b="1">
                <a:solidFill>
                  <a:srgbClr val="6A70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13</a:t>
            </a:r>
            <a:endParaRPr lang="en-US" altLang="en-US" sz="800" b="1">
              <a:solidFill>
                <a:srgbClr val="6A70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4948</Words>
  <Application>WPS 演示</Application>
  <PresentationFormat>宽屏</PresentationFormat>
  <Paragraphs>688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Microsoft YaHei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THY</dc:creator>
  <cp:lastModifiedBy>田涵宇0216</cp:lastModifiedBy>
  <cp:revision>157</cp:revision>
  <dcterms:created xsi:type="dcterms:W3CDTF">2019-06-19T02:08:00Z</dcterms:created>
  <dcterms:modified xsi:type="dcterms:W3CDTF">2026-06-07T16:46:37Z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33B21A4449EE4F198E5BA35F5EC9C439_11</vt:lpwstr>
  </property>
</Properties>
</file>